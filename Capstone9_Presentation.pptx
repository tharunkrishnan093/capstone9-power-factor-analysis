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Power Factor Pattern Analysis and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9 | Electrical and Electronics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voltage, current, active power, reactive power, and power factor.</a:t>
            </a:r>
          </a:p>
          <a:p>
            <a:pPr>
              <a:defRPr sz="2200"/>
            </a:pPr>
            <a:r>
              <a:t>Clean simulated readings and investigate patterns over time.</a:t>
            </a:r>
          </a:p>
          <a:p>
            <a:pPr>
              <a:defRPr sz="2200"/>
            </a:pPr>
            <a:r>
              <a:t>Classify operating intervals as Low, Moderate, or Good PF.</a:t>
            </a:r>
          </a:p>
          <a:p>
            <a:pPr>
              <a:defRPr sz="2200"/>
            </a:pPr>
            <a:r>
              <a:t>Present trends and flagged intervals in a Streamlit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Electrical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Single-phase approximation: apparent power S = V × I.</a:t>
            </a:r>
          </a:p>
          <a:p>
            <a:pPr>
              <a:defRPr sz="2200"/>
            </a:pPr>
            <a:r>
              <a:t>Power factor PF = P / S = P/(V × I).</a:t>
            </a:r>
          </a:p>
          <a:p>
            <a:pPr>
              <a:defRPr sz="2200"/>
            </a:pPr>
            <a:r>
              <a:t>Synthetic reactive power: Q = √(S² − P²).</a:t>
            </a:r>
          </a:p>
          <a:p>
            <a:pPr>
              <a:defRPr sz="2200"/>
            </a:pPr>
            <a:r>
              <a:t>Project bands: Low &lt; 0.80; Moderate 0.80–&lt;0.90; Good ≥ 0.90.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6,003 simulated rows at 15-minute intervals.</a:t>
            </a:r>
          </a:p>
          <a:p>
            <a:pPr>
              <a:defRPr sz="2200"/>
            </a:pPr>
            <a:r>
              <a:t>Features include V, I, P, Q, load level, hour, and day of week.</a:t>
            </a:r>
          </a:p>
          <a:p>
            <a:pPr>
              <a:defRPr sz="2200"/>
            </a:pPr>
            <a:r>
              <a:t>Demonstration defects: duplicate rows and a few missing sensor values.</a:t>
            </a:r>
          </a:p>
          <a:p>
            <a:pPr>
              <a:defRPr sz="2200"/>
            </a:pPr>
            <a:r>
              <a:t>Remove duplicates, impute missing features, recalculate PF, assign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Model: Random Forest classifier.</a:t>
            </a:r>
          </a:p>
          <a:p>
            <a:pPr>
              <a:defRPr sz="2200"/>
            </a:pPr>
            <a:r>
              <a:t>80% training / 20% held-out test split; stratified by class.</a:t>
            </a:r>
          </a:p>
          <a:p>
            <a:pPr>
              <a:defRPr sz="2200"/>
            </a:pPr>
            <a:r>
              <a:t>Median imputation is fitted within the training pipeline.</a:t>
            </a:r>
          </a:p>
          <a:p>
            <a:pPr>
              <a:defRPr sz="2200"/>
            </a:pPr>
            <a:r>
              <a:t>PF itself is excluded from features to avoid direct target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Held-out accuracy: 0.938.</a:t>
            </a:r>
          </a:p>
          <a:p>
            <a:pPr>
              <a:defRPr sz="2200"/>
            </a:pPr>
            <a:r>
              <a:t>Review precision, recall, F1-score, and the confusion matrix.</a:t>
            </a:r>
          </a:p>
          <a:p>
            <a:pPr>
              <a:defRPr sz="2200"/>
            </a:pPr>
            <a:r>
              <a:t>Metrics describe performance on synthetic data only.</a:t>
            </a:r>
          </a:p>
          <a:p>
            <a:pPr>
              <a:defRPr sz="2200"/>
            </a:pPr>
            <a:r>
              <a:t>Validate on authorized real readings before making real-world claims.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Date and PF-class filters.</a:t>
            </a:r>
          </a:p>
          <a:p>
            <a:pPr>
              <a:defRPr sz="2200"/>
            </a:pPr>
            <a:r>
              <a:t>PF and active/reactive power trends.</a:t>
            </a:r>
          </a:p>
          <a:p>
            <a:pPr>
              <a:defRPr sz="2200"/>
            </a:pPr>
            <a:r>
              <a:t>Class distribution and flagged intervals.</a:t>
            </a:r>
          </a:p>
          <a:p>
            <a:pPr>
              <a:defRPr sz="2200"/>
            </a:pPr>
            <a:r>
              <a:t>Sample classifier and CSV 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 can encode unrealistic patterns.</a:t>
            </a:r>
          </a:p>
          <a:p>
            <a:pPr>
              <a:defRPr sz="2200"/>
            </a:pPr>
            <a:r>
              <a:t>Power factor should be measured/calculated when reliable quantities exist.</a:t>
            </a:r>
          </a:p>
          <a:p>
            <a:pPr>
              <a:defRPr sz="2200"/>
            </a:pPr>
            <a:r>
              <a:t>Single-phase formulas do not automatically apply to three-phase systems.</a:t>
            </a:r>
          </a:p>
          <a:p>
            <a:pPr>
              <a:defRPr sz="2200"/>
            </a:pPr>
            <a:r>
              <a:t>No mains-connected compensation hardware; any compensation analysis remains simulation-only.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pipeline demonstrates EDA, preprocessing, ML, evaluation, and visualization.</a:t>
            </a:r>
          </a:p>
          <a:p>
            <a:pPr>
              <a:defRPr sz="2200"/>
            </a:pPr>
            <a:r>
              <a:t>Compare against simpler baselines and use time-aware validation.</a:t>
            </a:r>
          </a:p>
          <a:p>
            <a:pPr>
              <a:defRPr sz="2200"/>
            </a:pPr>
            <a:r>
              <a:t>Collect calibrated, authorized data for external validation.</a:t>
            </a:r>
          </a:p>
          <a:p>
            <a:pPr>
              <a:defRPr sz="2200"/>
            </a:pPr>
            <a:r>
              <a:t>Explain thresholds, assumptions, metrics, and limitations in the viva.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